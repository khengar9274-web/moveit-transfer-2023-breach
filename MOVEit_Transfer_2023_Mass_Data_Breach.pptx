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ink/ink2.xml" ContentType="application/inkml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ink/ink2.xml><?xml version="1.0" encoding="utf-8"?>
<ink xmlns="http://www.w3.org/2003/InkML">
  <definitions>
    <brush xml:id="br1">
      <brushProperty name="color" value="#000000"/>
      <brushProperty name="width" value="0.01984375" units="cm"/>
      <brushProperty name="tip" value="ellipse"/>
      <brushProperty name="fitToCurve" value="1"/>
      <brushProperty name="height" value="0.01984375" units="cm"/>
    </brush>
    <context xml:id="ctx0">
      <inkSource xml:id="inkSrc0">
        <traceFormat>
          <channel name="X" units="cm" defaultValue="0" type="decimal"/>
          <channel name="Y" units="cm" defaultValue="0" type="decimal"/>
          <channel name="F" max="1023" units="dev" defaultValue="0" type="decimal"/>
        </traceFormat>
        <channelProperties>
          <channelProperty channel="X" name="resolution" value="28.36041" units="1/cm"/>
          <channelProperty channel="Y" name="resolution" value="28.36041" units="1/cm"/>
          <channelProperty channel="F" name="resolution" value="1.0" units="1/dev"/>
        </channelProperties>
      </inkSource>
    </context>
  </definitions>
</ink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customXml" Target="../ink/ink2.xml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MOVEit Transfer 2023 Mass Data Breach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Name:</a:t>
            </a:r>
            <a:r>
              <a:rPr altLang="en-IN" lang="en-US"/>
              <a:t>y</a:t>
            </a:r>
            <a:r>
              <a:rPr altLang="en-IN" lang="en-US"/>
              <a:t>a</a:t>
            </a:r>
            <a:r>
              <a:rPr altLang="en-IN" lang="en-US"/>
              <a:t>s</a:t>
            </a:r>
            <a:r>
              <a:rPr altLang="en-IN" lang="en-US"/>
              <a:t>h</a:t>
            </a:r>
            <a:r>
              <a:rPr altLang="en-IN" lang="en-US"/>
              <a:t> </a:t>
            </a:r>
            <a:r>
              <a:rPr altLang="en-IN" lang="en-US"/>
              <a:t>k</a:t>
            </a:r>
            <a:r>
              <a:rPr altLang="en-IN" lang="en-US"/>
              <a:t>h</a:t>
            </a:r>
            <a:r>
              <a:rPr altLang="en-IN" lang="en-US"/>
              <a:t>e</a:t>
            </a:r>
            <a:r>
              <a:rPr altLang="en-IN" lang="en-US"/>
              <a:t>n</a:t>
            </a:r>
            <a:r>
              <a:rPr altLang="en-IN" lang="en-US"/>
              <a:t>g</a:t>
            </a:r>
            <a:r>
              <a:rPr altLang="en-IN" lang="en-US"/>
              <a:t>a</a:t>
            </a:r>
            <a:r>
              <a:rPr altLang="en-IN" lang="en-US"/>
              <a:t>r</a:t>
            </a:r>
            <a:endParaRPr altLang="en-US" lang="zh-CN"/>
          </a:p>
          <a:p>
            <a:r>
              <a:t>edX Username:</a:t>
            </a:r>
            <a:r>
              <a:rPr altLang="en-IN" lang="en-US"/>
              <a:t>@</a:t>
            </a:r>
            <a:r>
              <a:rPr altLang="en-IN" lang="en-US"/>
              <a:t>y</a:t>
            </a:r>
            <a:r>
              <a:rPr altLang="en-IN" lang="en-US"/>
              <a:t>a</a:t>
            </a:r>
            <a:r>
              <a:rPr altLang="en-IN" lang="en-US"/>
              <a:t>s</a:t>
            </a:r>
            <a:r>
              <a:rPr altLang="en-IN" lang="en-US"/>
              <a:t>h</a:t>
            </a:r>
            <a:r>
              <a:rPr altLang="en-IN" lang="en-US"/>
              <a:t>_</a:t>
            </a:r>
            <a:r>
              <a:rPr altLang="en-IN" lang="en-US"/>
              <a:t>7</a:t>
            </a:r>
            <a:r>
              <a:rPr altLang="en-IN" lang="en-US"/>
              <a:t>4</a:t>
            </a:r>
            <a:r>
              <a:rPr altLang="en-IN" lang="en-US"/>
              <a:t>1</a:t>
            </a:r>
            <a:r>
              <a:rPr altLang="en-IN" lang="en-US"/>
              <a:t>6</a:t>
            </a:r>
            <a:endParaRPr altLang="en-US" lang="zh-CN"/>
          </a:p>
          <a:p>
            <a:r>
              <a:t>GitHub Username</a:t>
            </a:r>
            <a:r>
              <a:rPr altLang="en-IN" lang="en-US"/>
              <a:t>:</a:t>
            </a:r>
            <a:r>
              <a:rPr altLang="en-IN" lang="en-US"/>
              <a:t> khengar</a:t>
            </a:r>
            <a:r>
              <a:rPr altLang="en-IN" lang="en-US"/>
              <a:t>9</a:t>
            </a:r>
            <a:r>
              <a:rPr altLang="en-IN" lang="en-US"/>
              <a:t>2</a:t>
            </a:r>
            <a:r>
              <a:rPr altLang="en-IN" lang="en-US"/>
              <a:t>7</a:t>
            </a:r>
            <a:r>
              <a:rPr altLang="en-IN" lang="en-US"/>
              <a:t>4</a:t>
            </a:r>
            <a:r>
              <a:rPr altLang="en-IN" lang="en-US"/>
              <a:t>-</a:t>
            </a:r>
            <a:r>
              <a:rPr altLang="en-IN" lang="en-US"/>
              <a:t>w</a:t>
            </a:r>
            <a:r>
              <a:rPr altLang="en-IN" lang="en-US"/>
              <a:t>e</a:t>
            </a:r>
            <a:r>
              <a:rPr altLang="en-IN" lang="en-US"/>
              <a:t>b</a:t>
            </a:r>
            <a:endParaRPr altLang="en-US" lang="zh-CN"/>
          </a:p>
          <a:p>
            <a:r>
              <a:t>Recording Date:</a:t>
            </a:r>
            <a:r>
              <a:rPr altLang="en-IN" lang="en-US"/>
              <a:t>j</a:t>
            </a:r>
            <a:r>
              <a:rPr altLang="en-IN" lang="en-US"/>
              <a:t>a</a:t>
            </a:r>
            <a:r>
              <a:rPr altLang="en-IN" lang="en-US"/>
              <a:t>n</a:t>
            </a:r>
            <a:r>
              <a:rPr altLang="en-IN" lang="en-US"/>
              <a:t>u</a:t>
            </a:r>
            <a:r>
              <a:rPr altLang="en-IN" lang="en-US"/>
              <a:t>a</a:t>
            </a:r>
            <a:r>
              <a:rPr altLang="en-IN" lang="en-US"/>
              <a:t>r</a:t>
            </a:r>
            <a:r>
              <a:rPr altLang="en-IN" lang="en-US"/>
              <a:t>y</a:t>
            </a:r>
            <a:r>
              <a:rPr altLang="en-IN" lang="en-US"/>
              <a:t> </a:t>
            </a:r>
            <a:r>
              <a:rPr altLang="en-IN" lang="en-US"/>
              <a:t>2</a:t>
            </a:r>
            <a:r>
              <a:rPr altLang="en-IN" lang="en-US"/>
              <a:t>0</a:t>
            </a:r>
            <a:r>
              <a:rPr altLang="en-IN" lang="en-US"/>
              <a:t>,</a:t>
            </a:r>
            <a:r>
              <a:rPr altLang="en-IN" lang="en-US"/>
              <a:t>2</a:t>
            </a:r>
            <a:r>
              <a:rPr altLang="en-IN" lang="en-US"/>
              <a:t>0</a:t>
            </a:r>
            <a:r>
              <a:rPr altLang="en-IN" lang="en-US"/>
              <a:t>2</a:t>
            </a:r>
            <a:r>
              <a:rPr altLang="en-IN" lang="en-US"/>
              <a:t>6</a:t>
            </a:r>
            <a:endParaRPr altLang="en-US" lang="zh-CN"/>
          </a:p>
          <a:p>
            <a:r>
              <a:t>Incident Date: May–June 2023</a:t>
            </a:r>
          </a:p>
          <a:p>
            <a:r>
              <a:t>CVE: CVE-2023-34362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">
            <p14:nvContentPartPr>
              <p14:cNvPr id="1048665" name=""/>
              <p14:cNvContentPartPr/>
              <p14:nvPr/>
            </p14:nvContentPartPr>
            <p14:xfrm>
              <a:off x="0" y="0"/>
              <a:ext cx="0" cy="0"/>
            </p14:xfrm>
          </p:contentPart>
        </mc:Choice>
        <mc:Fallback>
          <p:sp>
            <p:nvSpPr>
              <p:cNvPr id="1048665" name=""/>
              <p:cNvSpPr/>
              <p:nvPr/>
            </p:nvSpPr>
            <p:spPr>
              <a:xfrm>
                <a:off x="0" y="0"/>
                <a:ext cx="0" cy="0"/>
              </a:xfrm>
            </p:spPr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What Is MOVEit Transfer?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Managed File Transfer (MFT) software</a:t>
            </a:r>
          </a:p>
          <a:p>
            <a:r>
              <a:t>• Used by enterprises and governments</a:t>
            </a:r>
          </a:p>
          <a:p>
            <a:r>
              <a:t>• Handles highly sensitive data</a:t>
            </a:r>
          </a:p>
          <a:p>
            <a:r>
              <a:t>• Internet-facing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What Happened in 2023?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Zero-day vulnerability exploited</a:t>
            </a:r>
          </a:p>
          <a:p>
            <a:r>
              <a:t>• Attacks began in May 2023</a:t>
            </a:r>
          </a:p>
          <a:p>
            <a:r>
              <a:t>• Used by Cl0p ransomware group</a:t>
            </a:r>
          </a:p>
          <a:p>
            <a:r>
              <a:t>• Data stolen for extortion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CVE-2023-34362: SQL Injection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Improper input validation</a:t>
            </a:r>
          </a:p>
          <a:p>
            <a:r>
              <a:t>• SQL injection vulnerability</a:t>
            </a:r>
          </a:p>
          <a:p>
            <a:r>
              <a:t>• Arbitrary SQL execution</a:t>
            </a:r>
          </a:p>
          <a:p>
            <a:r>
              <a:t>• Database compromise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Attack Chain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1. Malicious HTTP request</a:t>
            </a:r>
          </a:p>
          <a:p>
            <a:r>
              <a:t>2. SQL injection triggered</a:t>
            </a:r>
          </a:p>
          <a:p>
            <a:r>
              <a:t>3. Database access gained</a:t>
            </a:r>
          </a:p>
          <a:p>
            <a:r>
              <a:t>4. Web shell installed</a:t>
            </a:r>
          </a:p>
          <a:p>
            <a:r>
              <a:t>5. Data exfiltrated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Impact of the Breach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600+ organizations affected</a:t>
            </a:r>
          </a:p>
          <a:p>
            <a:r>
              <a:t>• Governments, healthcare, universities</a:t>
            </a:r>
          </a:p>
          <a:p>
            <a:r>
              <a:t>• Millions of individuals impacted</a:t>
            </a:r>
          </a:p>
          <a:p>
            <a:r>
              <a:t>• Long-term privacy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What Went Wrong?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Poor input validation</a:t>
            </a:r>
          </a:p>
          <a:p>
            <a:r>
              <a:t>• Over-privileged database access</a:t>
            </a:r>
          </a:p>
          <a:p>
            <a:r>
              <a:t>• Internet-exposed services</a:t>
            </a:r>
          </a:p>
          <a:p>
            <a:r>
              <a:t>• Lack of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How Could This Be Prevented?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Parameterized SQL queries</a:t>
            </a:r>
          </a:p>
          <a:p>
            <a:r>
              <a:t>• Web application firewalls</a:t>
            </a:r>
          </a:p>
          <a:p>
            <a:r>
              <a:t>• Least privilege principle</a:t>
            </a:r>
          </a:p>
          <a:p>
            <a:r>
              <a:t>• Regular security audits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Lessons Learned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Mature software can fail</a:t>
            </a:r>
          </a:p>
          <a:p>
            <a:r>
              <a:t>• Web security remains critical</a:t>
            </a:r>
          </a:p>
          <a:p>
            <a:r>
              <a:t>• Zero-days are inevitable</a:t>
            </a:r>
          </a:p>
          <a:p>
            <a:r>
              <a:t>• Defense-in-depth is essential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SQL injection caused massive breach</a:t>
            </a:r>
          </a:p>
          <a:p>
            <a:r>
              <a:t>• Secure coding is critical</a:t>
            </a:r>
          </a:p>
          <a:p>
            <a:r>
              <a:t>• Strong security reduces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23043RP34I</dc:creator>
  <cp:lastModifiedBy>Steve Canny</cp:lastModifiedBy>
  <dcterms:created xsi:type="dcterms:W3CDTF">2013-01-26T22:14:16Z</dcterms:created>
  <dcterms:modified xsi:type="dcterms:W3CDTF">2026-01-21T06:47:26Z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c036f100231a46b1bfc2412b1ae77df5</vt:lpwstr>
  </property>
</Properties>
</file>